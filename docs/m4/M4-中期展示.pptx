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b89697eab9489f" /><Relationship Type="http://schemas.openxmlformats.org/officeDocument/2006/relationships/extended-properties" Target="/docProps/app.xml" Id="R12db9096a42644c1" /><Relationship Type="http://schemas.openxmlformats.org/officeDocument/2006/relationships/officeDocument" Target="/ppt/presentation.xml" Id="Rfd1e01636b1b48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136c2058f4624"/>
  </p:sldMasterIdLst>
  <p:notesMasterIdLst>
    <p:notesMasterId xmlns:r="http://schemas.openxmlformats.org/officeDocument/2006/relationships" r:id="R3f5e3a9da9aa405e"/>
  </p:notesMasterIdLst>
  <p:sldIdLst>
    <p:sldId xmlns:r="http://schemas.openxmlformats.org/officeDocument/2006/relationships" id="256" r:id="R2523959b785c49fd"/>
    <p:sldId xmlns:r="http://schemas.openxmlformats.org/officeDocument/2006/relationships" id="257" r:id="R8d9e5ece5b994b4d"/>
    <p:sldId xmlns:r="http://schemas.openxmlformats.org/officeDocument/2006/relationships" id="258" r:id="Rffbc7f754df74ad3"/>
    <p:sldId xmlns:r="http://schemas.openxmlformats.org/officeDocument/2006/relationships" id="259" r:id="R457f3a443321466f"/>
    <p:sldId xmlns:r="http://schemas.openxmlformats.org/officeDocument/2006/relationships" id="260" r:id="Rb5dc87bc343d49a4"/>
    <p:sldId xmlns:r="http://schemas.openxmlformats.org/officeDocument/2006/relationships" id="261" r:id="Rd3bdc0d1ce9d4150"/>
    <p:sldId xmlns:r="http://schemas.openxmlformats.org/officeDocument/2006/relationships" id="262" r:id="Ra0bc3f18d8fc4560"/>
    <p:sldId xmlns:r="http://schemas.openxmlformats.org/officeDocument/2006/relationships" id="263" r:id="R1d9e0e8f5603498d"/>
    <p:sldId xmlns:r="http://schemas.openxmlformats.org/officeDocument/2006/relationships" id="264" r:id="R8b5ceadeadfb46d7"/>
    <p:sldId xmlns:r="http://schemas.openxmlformats.org/officeDocument/2006/relationships" id="265" r:id="Ra6b10eeb91ce4e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6dc8df72324754" /><Relationship Type="http://schemas.openxmlformats.org/officeDocument/2006/relationships/slideMaster" Target="/ppt/slideMasters/slideMaster1.xml" Id="Rfd6136c2058f4624" /><Relationship Type="http://schemas.openxmlformats.org/officeDocument/2006/relationships/notesMaster" Target="/ppt/notesMasters/notesMaster1.xml" Id="R3f5e3a9da9aa405e" /><Relationship Type="http://schemas.openxmlformats.org/officeDocument/2006/relationships/presProps" Target="/ppt/presProps.xml" Id="R727c12c08054445a" /><Relationship Type="http://schemas.openxmlformats.org/officeDocument/2006/relationships/tableStyles" Target="/ppt/tableStyles.xml" Id="R9fbcdd5e87e94a55" /><Relationship Type="http://schemas.openxmlformats.org/officeDocument/2006/relationships/slide" Target="/ppt/slides/slide1.xml" Id="R2523959b785c49fd" /><Relationship Type="http://schemas.openxmlformats.org/officeDocument/2006/relationships/slide" Target="/ppt/slides/slide2.xml" Id="R8d9e5ece5b994b4d" /><Relationship Type="http://schemas.openxmlformats.org/officeDocument/2006/relationships/slide" Target="/ppt/slides/slide3.xml" Id="Rffbc7f754df74ad3" /><Relationship Type="http://schemas.openxmlformats.org/officeDocument/2006/relationships/slide" Target="/ppt/slides/slide4.xml" Id="R457f3a443321466f" /><Relationship Type="http://schemas.openxmlformats.org/officeDocument/2006/relationships/slide" Target="/ppt/slides/slide5.xml" Id="Rb5dc87bc343d49a4" /><Relationship Type="http://schemas.openxmlformats.org/officeDocument/2006/relationships/slide" Target="/ppt/slides/slide6.xml" Id="Rd3bdc0d1ce9d4150" /><Relationship Type="http://schemas.openxmlformats.org/officeDocument/2006/relationships/slide" Target="/ppt/slides/slide7.xml" Id="Ra0bc3f18d8fc4560" /><Relationship Type="http://schemas.openxmlformats.org/officeDocument/2006/relationships/slide" Target="/ppt/slides/slide8.xml" Id="R1d9e0e8f5603498d" /><Relationship Type="http://schemas.openxmlformats.org/officeDocument/2006/relationships/slide" Target="/ppt/slides/slide9.xml" Id="R8b5ceadeadfb46d7" /><Relationship Type="http://schemas.openxmlformats.org/officeDocument/2006/relationships/slide" Target="/ppt/slides/slide10.xml" Id="Ra6b10eeb91ce4e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50206ad3ef42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9a0f8351fd44e0" /><Relationship Type="http://schemas.openxmlformats.org/officeDocument/2006/relationships/notesMaster" Target="/ppt/notesMasters/notesMaster1.xml" Id="Rc5b46b8d7fc648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bf1fa1bff54a48" /><Relationship Type="http://schemas.openxmlformats.org/officeDocument/2006/relationships/notesMaster" Target="/ppt/notesMasters/notesMaster1.xml" Id="Raefa7851bab949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d33d10eb4047f3" /><Relationship Type="http://schemas.openxmlformats.org/officeDocument/2006/relationships/notesMaster" Target="/ppt/notesMasters/notesMaster1.xml" Id="R9c977943fb6e4a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ddbfd5614f4ec8" /><Relationship Type="http://schemas.openxmlformats.org/officeDocument/2006/relationships/notesMaster" Target="/ppt/notesMasters/notesMaster1.xml" Id="Rd517bb4be2d94c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3bfa38b827463b" /><Relationship Type="http://schemas.openxmlformats.org/officeDocument/2006/relationships/notesMaster" Target="/ppt/notesMasters/notesMaster1.xml" Id="Rb4d3b778ff7d47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6c7f6fd7954695" /><Relationship Type="http://schemas.openxmlformats.org/officeDocument/2006/relationships/notesMaster" Target="/ppt/notesMasters/notesMaster1.xml" Id="Rcbed410847ce47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0d3de5867044d8" /><Relationship Type="http://schemas.openxmlformats.org/officeDocument/2006/relationships/notesMaster" Target="/ppt/notesMasters/notesMaster1.xml" Id="R9b221fabeef74e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e2ae632f014ab3" /><Relationship Type="http://schemas.openxmlformats.org/officeDocument/2006/relationships/notesMaster" Target="/ppt/notesMasters/notesMaster1.xml" Id="R147e713fbb8443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0369f83fa84a51" /><Relationship Type="http://schemas.openxmlformats.org/officeDocument/2006/relationships/notesMaster" Target="/ppt/notesMasters/notesMaster1.xml" Id="R0f7fd413cfd947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d438904857491d" /><Relationship Type="http://schemas.openxmlformats.org/officeDocument/2006/relationships/notesMaster" Target="/ppt/notesMasters/notesMaster1.xml" Id="Rf7515e05be7e4f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本版本使用真实公开 LoCoMo 和本地模型。数据划分为项目预设，动态标准为自建诊断，均与课程官方成绩区分。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先说明用户需求：找到相关内容还不够，还要判断问题的时间条件。三个轮次描述同一过程的不同阶段。当前问题采用面试通过的证据，但旧信息仍可用于历史回溯，不能从存储中删除。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规格为每项功能定义了可检查的行为。导入失败不能破坏旧状态，回答要能回到原始轮次，动态关系只对本次问题生效。工程验收与开放域答案质量分别验证，测试通过不等于问答准确率满分。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数据从原始会话经过适配和抽取进入记忆库。候选检索与动态解析分开，因此可以固定候选比较模块效果。模型在本地 CPU 加载，页面没有 CDN 或外部模型请求。预测和评分是两个独立命令。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这里的规模来自实际解析结果，不是课程平均值相乘。每句原文都保留来源，有限规则提取部分结构化状态，其余观察仍留在记忆库。六段和划分由团队自行选择；本轮按上游顺序确定并保留选择依据。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较晚不自动等于正确。只有同人物、同属性且时间依据可靠的单值变化才能替代旧状态。不同爱好可以并存。计划与未知时间单独标记，保守策略有助于说明不确定性，但真实评测也发现它可能导致过度拒答。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这一页是实际运行截图。现场先查询 Caroline 当前状态，查看三个阶段和 D19:1 原文，再将日期改成 2023-06-01，说明同一记忆库如何返回历史证据。窗口中不是预先写好的演示答案，已使用本地模型执行。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新增测试检查真实来源一致性、QA 与摘要不会改变抽取、真实阶段历史查询、实际神经向量和末尾窗口。浏览器验证还检查点击来源和窄屏。所有证据随 process 保存，不把测试数量作为开放域准确率。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三种方法真实运行在同一机器上。全文方法不预先筛掉历史窗口，但回答形式仍是一个文本跨度。普通向量和动态向量逐题核对候选 ID 一致。题目抽样先固定哈希规则，没有按成绩挑选问题。完整结果在最终报告中分析。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为现场演示预留两分钟，启动和模型加载应在展示前完成。先展示状态变化，再展示来源，最后说明边界。模型只在首次安装依赖时需要网络，推理离线。真实团队评审和动态标签复核由团队完成，不以模板代替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bd1cd53914d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64086a22849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09a6e43414a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1cc5695864b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8b8e4b89548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6a417b78143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EA96E7-4A0D-4B48-8F11-EFF538E68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E63127-8DCB-425E-8E20-5501FA0923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997DB9-4034-40A1-A666-685D06191F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371580-EED1-430C-93C9-573942AB0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88758F-34E5-4D55-A5F8-9A8B51C258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50598E-5458-46DC-928D-24534898A3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EFE2E8-B0D4-4727-9988-54920E26D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172E53-1E75-44B4-B5F3-738DC1145B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E1545E-E7BA-4219-B3EB-3CE8A7683F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D7D0B6-AAAD-4761-A848-26441247D5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baca2a560f498b" /><Relationship Type="http://schemas.openxmlformats.org/officeDocument/2006/relationships/slideLayout" Target="/ppt/slideLayouts/slideLayout1.xml" Id="Ra40ce9abad9a4304" /><Relationship Type="http://schemas.openxmlformats.org/officeDocument/2006/relationships/slideLayout" Target="/ppt/slideLayouts/slideLayout2.xml" Id="R4e6b79ece30241a2" /><Relationship Type="http://schemas.openxmlformats.org/officeDocument/2006/relationships/slideLayout" Target="/ppt/slideLayouts/slideLayout3.xml" Id="Rd5919f72aa1044c9" /><Relationship Type="http://schemas.openxmlformats.org/officeDocument/2006/relationships/slideLayout" Target="/ppt/slideLayouts/slideLayout4.xml" Id="Rf8b5379908a94e6b" /><Relationship Type="http://schemas.openxmlformats.org/officeDocument/2006/relationships/slideLayout" Target="/ppt/slideLayouts/slideLayout5.xml" Id="R50111eed657e4d41" /><Relationship Type="http://schemas.openxmlformats.org/officeDocument/2006/relationships/slideLayout" Target="/ppt/slideLayouts/slideLayout6.xml" Id="R2ce02dc67b7b4d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0ce9abad9a4304"/>
    <p:sldLayoutId xmlns:r="http://schemas.openxmlformats.org/officeDocument/2006/relationships" id="2147483650" r:id="R4e6b79ece30241a2"/>
    <p:sldLayoutId xmlns:r="http://schemas.openxmlformats.org/officeDocument/2006/relationships" id="2147483651" r:id="Rd5919f72aa1044c9"/>
    <p:sldLayoutId xmlns:r="http://schemas.openxmlformats.org/officeDocument/2006/relationships" id="2147483652" r:id="Rf8b5379908a94e6b"/>
    <p:sldLayoutId xmlns:r="http://schemas.openxmlformats.org/officeDocument/2006/relationships" id="2147483653" r:id="R50111eed657e4d41"/>
    <p:sldLayoutId xmlns:r="http://schemas.openxmlformats.org/officeDocument/2006/relationships" id="2147483654" r:id="R2ce02dc67b7b4d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07cc29ca34d4f" /><Relationship Type="http://schemas.openxmlformats.org/officeDocument/2006/relationships/notesSlide" Target="/ppt/notesSlides/notesSlide1.xml" Id="R61885ba30b7d42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6702dd7884c36" /><Relationship Type="http://schemas.openxmlformats.org/officeDocument/2006/relationships/notesSlide" Target="/ppt/notesSlides/notesSlide2.xml" Id="Rf1f86ed4a7e540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f64452b104ca1" /><Relationship Type="http://schemas.openxmlformats.org/officeDocument/2006/relationships/notesSlide" Target="/ppt/notesSlides/notesSlide3.xml" Id="R0609388ba8de4c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a5603512346c3" /><Relationship Type="http://schemas.openxmlformats.org/officeDocument/2006/relationships/notesSlide" Target="/ppt/notesSlides/notesSlide4.xml" Id="R5615144946d142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aadc0674a4022" /><Relationship Type="http://schemas.openxmlformats.org/officeDocument/2006/relationships/notesSlide" Target="/ppt/notesSlides/notesSlide5.xml" Id="R636413cb9a9f4b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e6a83d0364dd5" /><Relationship Type="http://schemas.openxmlformats.org/officeDocument/2006/relationships/notesSlide" Target="/ppt/notesSlides/notesSlide6.xml" Id="R42da6c9b845a47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490b2a941e4e64" /><Relationship Type="http://schemas.openxmlformats.org/officeDocument/2006/relationships/image" Target="/ppt/media/image.png" Id="R3449dc53b6994797" /><Relationship Type="http://schemas.openxmlformats.org/officeDocument/2006/relationships/notesSlide" Target="/ppt/notesSlides/notesSlide7.xml" Id="R1a8568b8634744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14095d0aeb41d8" /><Relationship Type="http://schemas.openxmlformats.org/officeDocument/2006/relationships/notesSlide" Target="/ppt/notesSlides/notesSlide8.xml" Id="R18fa8b0eaa6546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02d15021a42fe" /><Relationship Type="http://schemas.openxmlformats.org/officeDocument/2006/relationships/notesSlide" Target="/ppt/notesSlides/notesSlide9.xml" Id="R720d829d5a7d41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799fdee31426a" /><Relationship Type="http://schemas.openxmlformats.org/officeDocument/2006/relationships/notesSlide" Target="/ppt/notesSlides/notesSlide10.xml" Id="R722feacc1d0e49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96F26-82A6-4DF0-A5C9-542CA3B1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>
                <a:solidFill>
                  <a:srgbClr val="9FCBD0"/>
                </a:solidFill>
              </a:defRPr>
            </a:defPPr>
            <a:lvl1pPr algn="l">
              <a:defRPr sz="1875">
                <a:solidFill>
                  <a:srgbClr val="9FCBD0"/>
                </a:solidFill>
              </a:defRPr>
            </a:lvl1pPr>
            <a:lvl2pPr algn="l">
              <a:defRPr sz="1875">
                <a:solidFill>
                  <a:srgbClr val="9FCBD0"/>
                </a:solidFill>
              </a:defRPr>
            </a:lvl2pPr>
            <a:lvl3pPr algn="l">
              <a:defRPr sz="1875">
                <a:solidFill>
                  <a:srgbClr val="9FCBD0"/>
                </a:solidFill>
              </a:defRPr>
            </a:lvl3pPr>
            <a:lvl4pPr algn="l">
              <a:defRPr sz="1875">
                <a:solidFill>
                  <a:srgbClr val="9FCBD0"/>
                </a:solidFill>
              </a:defRPr>
            </a:lvl4pPr>
            <a:lvl5pPr algn="l">
              <a:defRPr sz="1875">
                <a:solidFill>
                  <a:srgbClr val="9FCBD0"/>
                </a:solidFill>
              </a:defRPr>
            </a:lvl5pPr>
            <a:lvl6pPr algn="l">
              <a:defRPr sz="1875">
                <a:solidFill>
                  <a:srgbClr val="9FCBD0"/>
                </a:solidFill>
              </a:defRPr>
            </a:lvl6pPr>
            <a:lvl7pPr algn="l">
              <a:defRPr sz="1875">
                <a:solidFill>
                  <a:srgbClr val="9FCBD0"/>
                </a:solidFill>
              </a:defRPr>
            </a:lvl7pPr>
            <a:lvl8pPr algn="l">
              <a:defRPr sz="1875">
                <a:solidFill>
                  <a:srgbClr val="9FCBD0"/>
                </a:solidFill>
              </a:defRPr>
            </a:lvl8pPr>
            <a:lvl9pPr algn="l">
              <a:defRPr sz="1875">
                <a:solidFill>
                  <a:srgbClr val="9FCBD0"/>
                </a:solidFill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9FCBD0"/>
                </a:solidFill>
              </a:defRPr>
            </a:pPr>
            <a:r>
              <a:rPr sz="1875" b="0">
                <a:solidFill>
                  <a:srgbClr val="9FCBD0"/>
                </a:solidFill>
                <a:latin typeface="Microsoft YaHei"/>
                <a:ea typeface="Microsoft YaHei"/>
                <a:cs typeface="Microsoft YaHei"/>
              </a:rPr>
              <a:t>RISC-V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AF941-C658-4BA9-BEE8-39EB55FB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>
                <a:solidFill>
                  <a:srgbClr val="FFFFFF"/>
                </a:solidFill>
              </a:defRPr>
            </a:defPPr>
            <a:lvl1pPr algn="l">
              <a:defRPr sz="4350">
                <a:solidFill>
                  <a:srgbClr val="FFFFFF"/>
                </a:solidFill>
              </a:defRPr>
            </a:lvl1pPr>
            <a:lvl2pPr algn="l">
              <a:defRPr sz="4350">
                <a:solidFill>
                  <a:srgbClr val="FFFFFF"/>
                </a:solidFill>
              </a:defRPr>
            </a:lvl2pPr>
            <a:lvl3pPr algn="l">
              <a:defRPr sz="4350">
                <a:solidFill>
                  <a:srgbClr val="FFFFFF"/>
                </a:solidFill>
              </a:defRPr>
            </a:lvl3pPr>
            <a:lvl4pPr algn="l">
              <a:defRPr sz="4350">
                <a:solidFill>
                  <a:srgbClr val="FFFFFF"/>
                </a:solidFill>
              </a:defRPr>
            </a:lvl4pPr>
            <a:lvl5pPr algn="l">
              <a:defRPr sz="4350">
                <a:solidFill>
                  <a:srgbClr val="FFFFFF"/>
                </a:solidFill>
              </a:defRPr>
            </a:lvl5pPr>
            <a:lvl6pPr algn="l">
              <a:defRPr sz="4350">
                <a:solidFill>
                  <a:srgbClr val="FFFFFF"/>
                </a:solidFill>
              </a:defRPr>
            </a:lvl6pPr>
            <a:lvl7pPr algn="l">
              <a:defRPr sz="4350">
                <a:solidFill>
                  <a:srgbClr val="FFFFFF"/>
                </a:solidFill>
              </a:defRPr>
            </a:lvl7pPr>
            <a:lvl8pPr algn="l">
              <a:defRPr sz="4350">
                <a:solidFill>
                  <a:srgbClr val="FFFFFF"/>
                </a:solidFill>
              </a:defRPr>
            </a:lvl8pPr>
            <a:lvl9pPr algn="l">
              <a:defRPr sz="43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350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智能体动态记忆管理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49C60-4799-41CB-85E5-10A65E5F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>
                <a:solidFill>
                  <a:srgbClr val="F4BB51"/>
                </a:solidFill>
              </a:defRPr>
            </a:defPPr>
            <a:lvl1pPr algn="l">
              <a:defRPr sz="2550">
                <a:solidFill>
                  <a:srgbClr val="F4BB51"/>
                </a:solidFill>
              </a:defRPr>
            </a:lvl1pPr>
            <a:lvl2pPr algn="l">
              <a:defRPr sz="2550">
                <a:solidFill>
                  <a:srgbClr val="F4BB51"/>
                </a:solidFill>
              </a:defRPr>
            </a:lvl2pPr>
            <a:lvl3pPr algn="l">
              <a:defRPr sz="2550">
                <a:solidFill>
                  <a:srgbClr val="F4BB51"/>
                </a:solidFill>
              </a:defRPr>
            </a:lvl3pPr>
            <a:lvl4pPr algn="l">
              <a:defRPr sz="2550">
                <a:solidFill>
                  <a:srgbClr val="F4BB51"/>
                </a:solidFill>
              </a:defRPr>
            </a:lvl4pPr>
            <a:lvl5pPr algn="l">
              <a:defRPr sz="2550">
                <a:solidFill>
                  <a:srgbClr val="F4BB51"/>
                </a:solidFill>
              </a:defRPr>
            </a:lvl5pPr>
            <a:lvl6pPr algn="l">
              <a:defRPr sz="2550">
                <a:solidFill>
                  <a:srgbClr val="F4BB51"/>
                </a:solidFill>
              </a:defRPr>
            </a:lvl6pPr>
            <a:lvl7pPr algn="l">
              <a:defRPr sz="2550">
                <a:solidFill>
                  <a:srgbClr val="F4BB51"/>
                </a:solidFill>
              </a:defRPr>
            </a:lvl7pPr>
            <a:lvl8pPr algn="l">
              <a:defRPr sz="2550">
                <a:solidFill>
                  <a:srgbClr val="F4BB51"/>
                </a:solidFill>
              </a:defRPr>
            </a:lvl8pPr>
            <a:lvl9pPr algn="l">
              <a:defRPr sz="2550">
                <a:solidFill>
                  <a:srgbClr val="F4BB51"/>
                </a:solidFill>
              </a:defRPr>
            </a:lvl9pPr>
          </a:lstStyle>
          <a:p xmlns:a="http://schemas.openxmlformats.org/drawingml/2006/main">
            <a:pPr algn="l">
              <a:defRPr sz="2550">
                <a:solidFill>
                  <a:srgbClr val="F4BB51"/>
                </a:solidFill>
              </a:defRPr>
            </a:pPr>
            <a:r>
              <a:rPr sz="2550" b="0">
                <a:solidFill>
                  <a:srgbClr val="F4BB51"/>
                </a:solidFill>
                <a:latin typeface="Microsoft YaHei"/>
                <a:ea typeface="Microsoft YaHei"/>
                <a:cs typeface="Microsoft YaHei"/>
              </a:rPr>
              <a:t>Milestone 4 设计、实现与测试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51D08-EB77-4CAD-A1B0-F77A8C9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>
                <a:solidFill>
                  <a:srgbClr val="D1E3E6"/>
                </a:solidFill>
              </a:defRPr>
            </a:defPPr>
            <a:lvl1pPr algn="l">
              <a:defRPr sz="1800">
                <a:solidFill>
                  <a:srgbClr val="D1E3E6"/>
                </a:solidFill>
              </a:defRPr>
            </a:lvl1pPr>
            <a:lvl2pPr algn="l">
              <a:defRPr sz="1800">
                <a:solidFill>
                  <a:srgbClr val="D1E3E6"/>
                </a:solidFill>
              </a:defRPr>
            </a:lvl2pPr>
            <a:lvl3pPr algn="l">
              <a:defRPr sz="1800">
                <a:solidFill>
                  <a:srgbClr val="D1E3E6"/>
                </a:solidFill>
              </a:defRPr>
            </a:lvl3pPr>
            <a:lvl4pPr algn="l">
              <a:defRPr sz="1800">
                <a:solidFill>
                  <a:srgbClr val="D1E3E6"/>
                </a:solidFill>
              </a:defRPr>
            </a:lvl4pPr>
            <a:lvl5pPr algn="l">
              <a:defRPr sz="1800">
                <a:solidFill>
                  <a:srgbClr val="D1E3E6"/>
                </a:solidFill>
              </a:defRPr>
            </a:lvl5pPr>
            <a:lvl6pPr algn="l">
              <a:defRPr sz="1800">
                <a:solidFill>
                  <a:srgbClr val="D1E3E6"/>
                </a:solidFill>
              </a:defRPr>
            </a:lvl6pPr>
            <a:lvl7pPr algn="l">
              <a:defRPr sz="1800">
                <a:solidFill>
                  <a:srgbClr val="D1E3E6"/>
                </a:solidFill>
              </a:defRPr>
            </a:lvl7pPr>
            <a:lvl8pPr algn="l">
              <a:defRPr sz="1800">
                <a:solidFill>
                  <a:srgbClr val="D1E3E6"/>
                </a:solidFill>
              </a:defRPr>
            </a:lvl8pPr>
            <a:lvl9pPr algn="l">
              <a:defRPr sz="1800">
                <a:solidFill>
                  <a:srgbClr val="D1E3E6"/>
                </a:solidFill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D1E3E6"/>
                </a:solidFill>
              </a:defRPr>
            </a:pPr>
            <a: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  <a:t>Software Requirements Engineering 2026</a:t>
            </a:r>
            <a:b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  <a:t>2026 年 10 月 20 日</a:t>
            </a:r>
          </a:p>
        </p:txBody>
      </p:sp>
    </p:spTree>
    <p:extLst>
      <p:ext uri="{BB962C8B-B14F-4D97-AF65-F5344CB8AC3E}">
        <p14:creationId xmlns:p14="http://schemas.microsoft.com/office/powerpoint/2010/main" val="1196182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67634-AD2E-4326-AAB0-4B998DAB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长期对话中的状态变化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281E0-BB8A-4DD6-A5A8-3E088C0C5C1C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626608"/>
                <a:gridCol w="3246120"/>
              </a:tblGrid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Caroline 的事实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当前查询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D2:8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研究收养机构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保留历史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D13:1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提交收养申请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保留历史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D19:1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通过机构面试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79B96-7707-4A76-BCA3-F569EC73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真实来源：公开 LoCoMo conv-26。历史查询按指定日期重新解析。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EA86D-C854-4A40-B148-E1F9EB3C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363152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B50EB-59D8-4D0A-A406-EA2274CD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需求与验收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37759-8E06-42DD-884C-C1EFFE41BD42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0488"/>
                <a:gridCol w="4652772"/>
                <a:gridCol w="3787140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FR01–03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导入、记忆、原文回溯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真实六段与来源核对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FR04–08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检索、关系、问答、图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浏览器完整查询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FR09–12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导出与隔离实验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Memory、预测与评分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FR13–14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未知与错误恢复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边界自动测试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725FA-96B3-4857-B03F-EA318881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377429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CC0A2-E65F-47FF-9553-C9D3663A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63A74-E333-43DE-AE03-B8CAE62AEE0B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787140"/>
                <a:gridCol w="4869180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React / ECharts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查询、时间、关系与来源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HTTP API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校验、导入、导出、模型调用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规则与完整来源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检索、时间与状态解析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模型与实验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ONNX / 独立评分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实际向量、窗口 QA、逐题记录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CC3B5-E385-4C68-9DFC-FCD60BCD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07912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E3931-D9F8-4D07-BF26-71082CFB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真实数据与记忆构建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D0891-5E8C-47EE-9B2D-861110810352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0488"/>
                <a:gridCol w="3787140"/>
                <a:gridCol w="4652772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实际规模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项目预设 4 开发 + 2 留出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 会话 / 3435 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完整历史保留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10207 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原句来源逐条核对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标注隔离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QA 与摘要不参与抽取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问题与 gold 分文件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3B629-4750-403A-96EA-582077FA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六段及 4＋2 由团队自主选择，划分已记录。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036D1-3C15-4999-8978-AC9F2A8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204496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24A94-D774-460D-8818-F87587A6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查询时关系与有效性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E9C75-7F59-4325-8FCF-03611B359559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3304"/>
                <a:gridCol w="4544568"/>
                <a:gridCol w="3462528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RETAIN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印证或可并存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保留兼容事实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UPDATE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同一过程后续阶段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前序作为历史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SUPERSEDE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单值属性后续变化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按时间选择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CONFLICT / 未知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证据不足以消解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显示不确定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3C8B5-D043-4DA1-9B14-5F595C7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3224335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12560-514E-4C60-9915-4DCAECA3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真实页面与来源回溯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9D2D9-EDBE-4BA5-893C-001F9434BE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9dc53b6994797"/>
          <a:stretch xmlns:a="http://schemas.openxmlformats.org/drawingml/2006/main"/>
        </p:blipFill>
        <p:spPr>
          <a:xfrm xmlns:a="http://schemas.openxmlformats.org/drawingml/2006/main">
            <a:off x="1222419" y="1581150"/>
            <a:ext cx="9747162" cy="41814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60372-AEF9-4444-B694-845734DF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点击 ECharts 节点可定位原始轮次。默认时间为语料结束时间。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E2FA9-416C-4768-93D6-B6FCA23D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255898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8BE0A-F51C-490A-BDCE-CB0AD26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测试与浏览器验证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42A64-DF73-4F8C-8F00-63FE50458F7A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69180"/>
                <a:gridCol w="2705100"/>
                <a:gridCol w="3246120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原行为 / 指标 / API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+ 6 + 5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真实数据与隔离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本地模型与末尾窗口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真实数据四条路径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无异常、无外部请求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3A831-7B72-4423-85D0-7E5D4E08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合计 54 项自动测试通过。模型检查实际执行。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C54F9-FC97-4444-B879-63385FA8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2097314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A1D80-F238-4ECF-B92B-467AB1BE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对照实验与运行配置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AD80F-F879-4D08-9D9B-C5497B5B50A6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4111752"/>
                <a:gridCol w="3678936"/>
              </a:tblGrid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相同部分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Text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DistilBERT 抽取式回答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遍历完整历史窗口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 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MiniLM，K=10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直接使用候选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Dynamic Vector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相同候选与回答器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过滤与状态解析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17010-9837-49F4-A709-CA6C4448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开发 30 题、留出 16 题。抽样规则与完整题单随包。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BD1DB-CE2E-4FF2-ADB5-11B66C58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7682670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E12A6-A72E-4132-8B79-B9789976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现场演示与交付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892D3-AA2E-4D23-91AD-F26773C0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运行 run.bat，加载真实六段数据与随包模型。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7DD9A-2E8E-48BB-BCC9-12C12D94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演示当前阶段、历史日期、通用向量问答和原始来源。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E56F7-470F-468C-914D-82EE2D5D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交付规格、设计、源码、模型、测试记录与可编辑展示。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D5246-B7FE-4A78-A4EF-CBB7DAF0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正式课堂时间、团队编号及成员评审按实际安排填写。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41D59-3BAB-4780-93AC-D526BCFA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822618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2026-10-19T16:55:25.6990000Z</dcterms:created>
  <dcterms:modified xsi:type="dcterms:W3CDTF">2026-10-19T16:55:25.6990000Z</dcterms:modified>
</coreProperties>
</file>